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100584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50BE82"/>
                </a:solidFill>
                <a:latin typeface="Aptos"/>
              </a:defRPr>
            </a:pPr>
            <a:r>
              <a:t>IEEE BIGDATA CUP 2026 · AI EMULATION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17373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5F8F5"/>
                </a:solidFill>
                <a:latin typeface="Aptos"/>
              </a:defRPr>
            </a:pPr>
            <a:r>
              <a:t>CarbonGlobe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2788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0">
                <a:solidFill>
                  <a:srgbClr val="BECFC9"/>
                </a:solidFill>
                <a:latin typeface="Aptos"/>
              </a:defRPr>
            </a:pPr>
            <a:r>
              <a:t>Physics-guided machine learning for forest ecosystem forecasting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4251960"/>
            <a:ext cx="9875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5F8F5"/>
                </a:solidFill>
                <a:latin typeface="Aptos"/>
              </a:defRPr>
            </a:pPr>
            <a:r>
              <a:t>From a single-model baseline to a multi-model optimized pipeline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074920"/>
            <a:ext cx="2194560" cy="9144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521208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F0BE5A"/>
                </a:solidFill>
                <a:latin typeface="Aptos"/>
              </a:defRPr>
            </a:pPr>
            <a:r>
              <a:t>0.238 RMSE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" y="5669280"/>
            <a:ext cx="186537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First submission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46120" y="5074920"/>
            <a:ext cx="2194560" cy="9144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0712" y="5212080"/>
            <a:ext cx="18653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0BE82"/>
                </a:solidFill>
                <a:latin typeface="Aptos"/>
              </a:defRPr>
            </a:pPr>
            <a:r>
              <a:t>0.095 RMSE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10712" y="5669280"/>
            <a:ext cx="1865376" cy="2011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Optimized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35440" y="6446520"/>
            <a:ext cx="22860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Project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1. Problem statement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Why build an emulator?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2044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288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The 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3191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Ecosystem Demography (ED) models forest growth and carbon dynamics, but running it globally is computationally expensive.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288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Our objective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86000"/>
            <a:ext cx="3191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Train a machine-learning emulator that predicts ecosystem outcomes from climate, site conditions and forest 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52044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8288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Evaluation focus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86000"/>
            <a:ext cx="3191256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The competition submission predicts year-40 vegetation height and above-ground biomass (AGB), normalized by global means.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0690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50BE82"/>
                </a:solidFill>
                <a:latin typeface="Aptos"/>
              </a:defRPr>
            </a:pPr>
            <a:r>
              <a:t>Core idea: learn the simulator’s patterns while respecting ecological constraints.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8F5"/>
                </a:solidFill>
                <a:latin typeface="Aptos"/>
              </a:defRPr>
            </a:pPr>
            <a:r>
              <a:t>Two climate scenarios are evaluated: SSP126 (lower-warming pathway) and SSP585 (higher-warming pathway). The second scenario is especially challenging because future conditions can differ from the training distribution.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2. Dataset and prediction target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Inputs are time-dependent, and forests have different starting 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520440" cy="219456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Climate drivers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319125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136 input variables across 40 years and 12 months, including meteorological and environmental drivers.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19456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Forest 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40280"/>
            <a:ext cx="319125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15 age groups: 1, 10, 20, 30, 50, 70, 100, 150, 200, 250, 300, 350, 400, 450 and 500 years.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520440" cy="219456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40280"/>
            <a:ext cx="3191256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Seven ecosystem state variables are available in the data; the competition file requires height and AGB for year 40.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25196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0BE82"/>
                </a:solidFill>
                <a:latin typeface="Aptos"/>
              </a:defRPr>
            </a:pPr>
            <a:r>
              <a:t>Submission format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681728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8F5"/>
                </a:solidFill>
                <a:latin typeface="Aptos"/>
              </a:defRPr>
            </a:pPr>
            <a:r>
              <a:t>Each row uses an ID of the form scenario_site_age. Predictions for height and AGB are divided by their respective global means before submission: 10.90645 and 3.39567.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3. Submission 1 — baseline approach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Reported Kaggle RMSE: approximately 0.238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5349240" cy="192024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50200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Model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5020055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HistGradientBoostingRegressor (tree-based gradient boosting). The notebook trains a model on engineered inputs and uses age-conditioned features for predictions.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645920"/>
            <a:ext cx="5349240" cy="192024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783080"/>
            <a:ext cx="502005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Baseline workflow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82512" y="2240280"/>
            <a:ext cx="5020055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Load data → prepare climate/site features → fit a single model per target → predict year-40 height and AGB → clip negative predictions → normalize by global means → write CSV.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39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0BE82"/>
                </a:solidFill>
                <a:latin typeface="Aptos"/>
              </a:defRPr>
            </a:pPr>
            <a:r>
              <a:t>What the baseline did well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34840"/>
            <a:ext cx="51206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5"/>
                </a:solidFill>
                <a:latin typeface="Aptos"/>
              </a:defRPr>
            </a:pPr>
            <a:r>
              <a:t>• Established an end-to-end Kaggle submission.</a:t>
            </a:r>
            <a:br/>
            <a:r>
              <a:t>• Used a nonlinear tree model to learn feature interactions.</a:t>
            </a:r>
            <a:br/>
            <a:r>
              <a:t>• Produced the required 185,130-row submission structure.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3977639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F0BE5A"/>
                </a:solidFill>
                <a:latin typeface="Aptos"/>
              </a:defRPr>
            </a:pPr>
            <a:r>
              <a:t>Main limitations to address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63640" y="4434840"/>
            <a:ext cx="51206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5"/>
                </a:solidFill>
                <a:latin typeface="Aptos"/>
              </a:defRPr>
            </a:pPr>
            <a:r>
              <a:t>• One learner has one dominant modeling bias.</a:t>
            </a:r>
            <a:br/>
            <a:r>
              <a:t>• Climate summaries alone may miss long-term trend and site context.</a:t>
            </a:r>
            <a:br/>
            <a:r>
              <a:t>• Unconstrained predictions can violate plausible growth behavior.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4. Performance improvement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Lower RMSE means predictions are closer to the target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5</a:t>
            </a:r>
          </a:p>
        </p:txBody>
      </p:sp>
      <p:pic>
        <p:nvPicPr>
          <p:cNvPr id="7" name="Picture 6" descr="rms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08760"/>
            <a:ext cx="6583680" cy="3456432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726679" y="1828800"/>
            <a:ext cx="3566160" cy="13258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891271" y="19659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F0BE5A"/>
                </a:solidFill>
                <a:latin typeface="Aptos"/>
              </a:defRPr>
            </a:pPr>
            <a:r>
              <a:t>First submission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91271" y="2423160"/>
            <a:ext cx="323697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8F5"/>
                </a:solidFill>
                <a:latin typeface="Aptos"/>
              </a:defRPr>
            </a:pPr>
            <a:r>
              <a:t>RMSE ≈ 0.238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29000"/>
            <a:ext cx="3566160" cy="13258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91271" y="3566160"/>
            <a:ext cx="323697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Optimized submission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91271" y="4023360"/>
            <a:ext cx="3236976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0">
                <a:solidFill>
                  <a:srgbClr val="F5F8F5"/>
                </a:solidFill>
                <a:latin typeface="Aptos"/>
              </a:defRPr>
            </a:pPr>
            <a:r>
              <a:t>RMSE ≈ 0.095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5074920"/>
            <a:ext cx="33832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0BE82"/>
                </a:solidFill>
                <a:latin typeface="Aptos"/>
              </a:defRPr>
            </a:pPr>
            <a:r>
              <a:t>Approx. 60.1% relative RMSE reduction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8521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BECFC9"/>
                </a:solidFill>
                <a:latin typeface="Aptos"/>
              </a:defRPr>
            </a:pPr>
            <a:r>
              <a:t>Scores are reported from the project team’s Kaggle runs; the CSV files alone do not contain the leaderboard score.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5. Optimized methodology — the big picture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A pipeline combining richer features, multiple learners and ecological priors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474720" cy="15544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BE5A"/>
                </a:solidFill>
                <a:latin typeface="Aptos"/>
              </a:defRPr>
            </a:pPr>
            <a:r>
              <a:t>01  Prepare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94560"/>
            <a:ext cx="314553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Load climate arrays, target arrays, site splits and initial state.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00200"/>
            <a:ext cx="3474720" cy="15544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737360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0BE82"/>
                </a:solidFill>
                <a:latin typeface="Aptos"/>
              </a:defRPr>
            </a:pPr>
            <a:r>
              <a:t>02  Engineer features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194560"/>
            <a:ext cx="314553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Summarize climate trends and add forest age, ecosystem ratios and site profiles.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83880" y="1600200"/>
            <a:ext cx="3474720" cy="15544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8472" y="1737360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BE5A"/>
                </a:solidFill>
                <a:latin typeface="Aptos"/>
              </a:defRPr>
            </a:pPr>
            <a:r>
              <a:t>03  Fit diverse learners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8472" y="2194560"/>
            <a:ext cx="314553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Train LightGBM, XGBoost and HistGradientBoosting models.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94360" y="3566160"/>
            <a:ext cx="3474720" cy="15544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3703320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0BE82"/>
                </a:solidFill>
                <a:latin typeface="Aptos"/>
              </a:defRPr>
            </a:pPr>
            <a:r>
              <a:t>04  Blend predictions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4160520"/>
            <a:ext cx="314553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Combine model outputs and multiple target formulations to reduce model-specific errors.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3566160"/>
            <a:ext cx="3474720" cy="15544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3712" y="3703320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0BE82"/>
                </a:solidFill>
                <a:latin typeface="Aptos"/>
              </a:defRPr>
            </a:pPr>
            <a:r>
              <a:t>05  Apply constraints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53712" y="4160520"/>
            <a:ext cx="314553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Use chronosequence/carrying-capacity priors and non-negative output clipping.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83880" y="3566160"/>
            <a:ext cx="3474720" cy="15544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48472" y="3703320"/>
            <a:ext cx="314553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BE5A"/>
                </a:solidFill>
                <a:latin typeface="Aptos"/>
              </a:defRPr>
            </a:pPr>
            <a:r>
              <a:t>06  Normalize + submit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48472" y="4160520"/>
            <a:ext cx="3145536" cy="8412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F5F8F5"/>
                </a:solidFill>
                <a:latin typeface="Aptos"/>
              </a:defRPr>
            </a:pPr>
            <a:r>
              <a:t>Scale height/AGB by global means and align predictions to the sample submission IDs.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6. Feature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Turn raw time series into ecological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00200"/>
            <a:ext cx="3520440" cy="192024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3736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Climate history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194560"/>
            <a:ext cx="319125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Mean climate, first-five-year and last-five-year summaries, change, variability, temporal slope and recency-weighted climate.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00200"/>
            <a:ext cx="3520440" cy="192024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3736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Initial ecosystem state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194560"/>
            <a:ext cx="319125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Year-0 state variables, log-transformed states and normalized height/AGB give the model a starting point.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00200"/>
            <a:ext cx="3520440" cy="192024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3736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Ecology + 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194560"/>
            <a:ext cx="3191256" cy="1207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Ratios such as biomass/height, productivity measures, stand age transforms, growth rates, saturation and remaining growth potential.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06908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0BE82"/>
                </a:solidFill>
                <a:latin typeface="Aptos"/>
              </a:defRPr>
            </a:pPr>
            <a:r>
              <a:t>Why it helps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57200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8F5"/>
                </a:solidFill>
                <a:latin typeface="Aptos"/>
              </a:defRPr>
            </a:pPr>
            <a:r>
              <a:t>The optimized notebook builds a large feature vector (about 1,159 features) to represent not only average climate, but also how climate changes through time and how each forest site is progressing along its age trajectory.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7. Three-model ensemble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Different tree learners capture different patterns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91640"/>
            <a:ext cx="3520440" cy="20574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8288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LightGBM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86000"/>
            <a:ext cx="319125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Gradient-boosted decision trees designed for efficient learning on large tabular datasets.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91640"/>
            <a:ext cx="3520440" cy="20574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8288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XGBoost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86000"/>
            <a:ext cx="319125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A separate gradient-boosting implementation; its different regularization and tree-building choices provide complementary predictions.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91640"/>
            <a:ext cx="3520440" cy="20574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82880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HistGradientBoosting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86000"/>
            <a:ext cx="3191256" cy="1344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Histogram-based gradient boosting, offering another tree-learning bias and efficient split search.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10698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50BE82"/>
                </a:solidFill>
                <a:latin typeface="Aptos"/>
              </a:defRPr>
            </a:pPr>
            <a:r>
              <a:t>Voting / blending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17720"/>
            <a:ext cx="1069848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8F5"/>
                </a:solidFill>
                <a:latin typeface="Aptos"/>
              </a:defRPr>
            </a:pPr>
            <a:r>
              <a:t>The optimized code uses VotingRegressor combinations for model families and several target formulations (for example, predicting a growth delta, a direct value, or a log-ratio). The final prediction combines these signals instead of trusting a single model.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8. Physics-guided constraints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Use ecology to keep predictions plausible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520440" cy="20116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Chronosequence profile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319125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Compare states across age groups to estimate site-level height, biomass, productivity and likely future capacity.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20116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Growth headroom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40280"/>
            <a:ext cx="319125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Features estimate the gap between the current state and a site’s historical maximum / carrying-capacity proxy.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520440" cy="201168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Safe outputs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40280"/>
            <a:ext cx="3191256" cy="12984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Negative height and biomass predictions are clipped to zero; outputs are normalized with the competition’s required global means.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160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900" b="1">
                <a:solidFill>
                  <a:srgbClr val="50BE82"/>
                </a:solidFill>
                <a:latin typeface="Aptos"/>
              </a:defRPr>
            </a:pPr>
            <a:r>
              <a:t>Why this matters for SSP585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645152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0">
                <a:solidFill>
                  <a:srgbClr val="F5F8F5"/>
                </a:solidFill>
                <a:latin typeface="Aptos"/>
              </a:defRPr>
            </a:pPr>
            <a:r>
              <a:t>Under stronger warming, climate inputs can be far from familiar historical conditions. Site-state information and growth priors help prevent the model from making implausible jumps based only on climate similarity.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9. Before vs after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The improvements target both representation and model robustness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10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94360" y="1645920"/>
          <a:ext cx="1097280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4023360"/>
                <a:gridCol w="5120640"/>
              </a:tblGrid>
              <a:tr h="6553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Aspect</a:t>
                      </a:r>
                    </a:p>
                  </a:txBody>
                  <a:tcPr marL="73152" marR="73152">
                    <a:solidFill>
                      <a:srgbClr val="2753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Submission 1</a:t>
                      </a:r>
                    </a:p>
                  </a:txBody>
                  <a:tcPr marL="73152" marR="73152">
                    <a:solidFill>
                      <a:srgbClr val="27534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Submission 2</a:t>
                      </a:r>
                    </a:p>
                  </a:txBody>
                  <a:tcPr marL="73152" marR="73152">
                    <a:solidFill>
                      <a:srgbClr val="275345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Model design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Single HistGradientBoosting baseline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LightGBM + XGBoost + HistGradientBoosting voting/blending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Feature set</a:t>
                      </a:r>
                    </a:p>
                  </a:txBody>
                  <a:tcPr marL="73152" marR="73152">
                    <a:solidFill>
                      <a:srgbClr val="132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Climate / site features and age-conditioned inputs</a:t>
                      </a:r>
                    </a:p>
                  </a:txBody>
                  <a:tcPr marL="73152" marR="73152">
                    <a:solidFill>
                      <a:srgbClr val="132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Richer climate trends, initial state, ecological ratios, age and chronosequence features</a:t>
                      </a:r>
                    </a:p>
                  </a:txBody>
                  <a:tcPr marL="73152" marR="73152">
                    <a:solidFill>
                      <a:srgbClr val="13262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Ecological context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Limited explicit constraints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Carrying-capacity / growth-headroom priors and non-negative predictions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Target strategy</a:t>
                      </a:r>
                    </a:p>
                  </a:txBody>
                  <a:tcPr marL="73152" marR="73152">
                    <a:solidFill>
                      <a:srgbClr val="132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Single main prediction formulation</a:t>
                      </a:r>
                    </a:p>
                  </a:txBody>
                  <a:tcPr marL="73152" marR="73152">
                    <a:solidFill>
                      <a:srgbClr val="13262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Delta, direct-value and log-ratio formulations blended</a:t>
                      </a:r>
                    </a:p>
                  </a:txBody>
                  <a:tcPr marL="73152" marR="73152">
                    <a:solidFill>
                      <a:srgbClr val="132628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Reported RMSE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≈ 0.238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F5F8F5"/>
                          </a:solidFill>
                          <a:latin typeface="Aptos"/>
                        </a:defRPr>
                      </a:pPr>
                      <a:r>
                        <a:t>≈ 0.095</a:t>
                      </a:r>
                    </a:p>
                  </a:txBody>
                  <a:tcPr marL="73152" marR="73152">
                    <a:solidFill>
                      <a:srgbClr val="182F30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731520" y="580644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0BE82"/>
                </a:solidFill>
                <a:latin typeface="Aptos"/>
              </a:defRPr>
            </a:pPr>
            <a:r>
              <a:t>Reported change: 0.143 absolute RMSE points lower (about 60% relative reduction).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10. What the score change means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Quantifying the improvement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11</a:t>
            </a:r>
          </a:p>
        </p:txBody>
      </p:sp>
      <p:pic>
        <p:nvPicPr>
          <p:cNvPr id="7" name="Picture 6" descr="rmse_redu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00200"/>
            <a:ext cx="7498079" cy="243687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686800" y="1874519"/>
            <a:ext cx="2468880" cy="118872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51392" y="2011679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F0BE5A"/>
                </a:solidFill>
                <a:latin typeface="Aptos"/>
              </a:defRPr>
            </a:pPr>
            <a:r>
              <a:t>Absolute change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51392" y="2468879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5"/>
                </a:solidFill>
                <a:latin typeface="Aptos"/>
              </a:defRPr>
            </a:pPr>
            <a:r>
              <a:t>0.238 − 0.095 = 0.143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686800" y="3429000"/>
            <a:ext cx="2468880" cy="118872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51392" y="3566160"/>
            <a:ext cx="213969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50BE82"/>
                </a:solidFill>
                <a:latin typeface="Aptos"/>
              </a:defRPr>
            </a:pPr>
            <a:r>
              <a:t>Relative change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51392" y="4023360"/>
            <a:ext cx="2139696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5"/>
                </a:solidFill>
                <a:latin typeface="Aptos"/>
              </a:defRPr>
            </a:pPr>
            <a:r>
              <a:t>60.1% lower RMSE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800600"/>
            <a:ext cx="104241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5"/>
                </a:solidFill>
                <a:latin typeface="Aptos"/>
              </a:defRPr>
            </a:pPr>
            <a:r>
              <a:t>Interpretation: the optimized submission substantially reduced prediction error on the reported leaderboard metric. This is evidence of a stronger pipeline, but it does not by itself prove which single feature or model caused the entire gain.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11. Final submission workflow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From Kaggle inputs to competition-ready CSV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2240280"/>
            <a:ext cx="178308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7512" y="2377440"/>
            <a:ext cx="1453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BE5A"/>
                </a:solidFill>
                <a:latin typeface="Aptos"/>
              </a:defRPr>
            </a:pPr>
            <a:r>
              <a:t>Kaggle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7512" y="2834640"/>
            <a:ext cx="1453895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5F8F5"/>
                </a:solidFill>
                <a:latin typeface="Aptos"/>
              </a:defRPr>
            </a:pPr>
            <a:r>
              <a:t>train / validation / test + climate arrays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2880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0B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50591" y="2240280"/>
            <a:ext cx="178308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15184" y="2377440"/>
            <a:ext cx="1453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BE5A"/>
                </a:solidFill>
                <a:latin typeface="Aptos"/>
              </a:defRPr>
            </a:pPr>
            <a:r>
              <a:t>Feature builder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15184" y="2834640"/>
            <a:ext cx="1453895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5F8F5"/>
                </a:solidFill>
                <a:latin typeface="Aptos"/>
              </a:defRPr>
            </a:pPr>
            <a:r>
              <a:t>climate summaries + state + age + site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24527" y="2880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0B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8264" y="2240280"/>
            <a:ext cx="178308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62855" y="2377440"/>
            <a:ext cx="1453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BE5A"/>
                </a:solidFill>
                <a:latin typeface="Aptos"/>
              </a:defRPr>
            </a:pPr>
            <a:r>
              <a:t>Model training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62855" y="2834640"/>
            <a:ext cx="1453895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5F8F5"/>
                </a:solidFill>
                <a:latin typeface="Aptos"/>
              </a:defRPr>
            </a:pPr>
            <a:r>
              <a:t>LightGBM · XGBoost · HistGradientBoosting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2880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0B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2240280"/>
            <a:ext cx="178308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10527" y="2377440"/>
            <a:ext cx="1453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0BE82"/>
                </a:solidFill>
                <a:latin typeface="Aptos"/>
              </a:defRPr>
            </a:pPr>
            <a:r>
              <a:t>Ensemble + prior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7" y="2834640"/>
            <a:ext cx="1453895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5F8F5"/>
                </a:solidFill>
                <a:latin typeface="Aptos"/>
              </a:defRPr>
            </a:pPr>
            <a:r>
              <a:t>blend target formulations and ecological anchors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19871" y="2880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0B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608" y="2240280"/>
            <a:ext cx="178308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458200" y="2377440"/>
            <a:ext cx="1453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0BE5A"/>
                </a:solidFill>
                <a:latin typeface="Aptos"/>
              </a:defRPr>
            </a:pPr>
            <a:r>
              <a:t>Post-process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58200" y="2834640"/>
            <a:ext cx="1453895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5F8F5"/>
                </a:solidFill>
                <a:latin typeface="Aptos"/>
              </a:defRPr>
            </a:pPr>
            <a:r>
              <a:t>clip negatives; divide by global means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67544" y="2880360"/>
            <a:ext cx="18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50BE82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41280" y="2240280"/>
            <a:ext cx="1783080" cy="182880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405872" y="2377440"/>
            <a:ext cx="1453895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50BE82"/>
                </a:solidFill>
                <a:latin typeface="Aptos"/>
              </a:defRPr>
            </a:pPr>
            <a:r>
              <a:t>submission.csv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405872" y="2834640"/>
            <a:ext cx="1453895" cy="1115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F5F8F5"/>
                </a:solidFill>
                <a:latin typeface="Aptos"/>
              </a:defRPr>
            </a:pPr>
            <a:r>
              <a:t>id, height, agb — 185,130 rows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4892040"/>
            <a:ext cx="106070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0">
                <a:solidFill>
                  <a:srgbClr val="F5F8F5"/>
                </a:solidFill>
                <a:latin typeface="Aptos"/>
              </a:defRPr>
            </a:pPr>
            <a:r>
              <a:t>Submission checks: IDs are joined to the official template, row count is preserved, and both target columns are scaled consistently.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C1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F5F8F5"/>
                </a:solidFill>
                <a:latin typeface="Aptos"/>
              </a:defRPr>
            </a:pPr>
            <a:r>
              <a:t>12. Conclusion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914400"/>
            <a:ext cx="914400" cy="50292"/>
          </a:xfrm>
          <a:prstGeom prst="rect">
            <a:avLst/>
          </a:prstGeom>
          <a:solidFill>
            <a:srgbClr val="50BE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1024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BECFC9"/>
                </a:solidFill>
                <a:latin typeface="Aptos"/>
              </a:defRPr>
            </a:pPr>
            <a:r>
              <a:t>What we learned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6519672"/>
            <a:ext cx="9144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00" b="0">
                <a:solidFill>
                  <a:srgbClr val="BECFC9"/>
                </a:solidFill>
                <a:latin typeface="Aptos"/>
              </a:defRPr>
            </a:pPr>
            <a:r>
              <a:t>CARBON GLOBE  |  IEEE BigData Cup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92240"/>
            <a:ext cx="457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BECFC9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4360" y="1645920"/>
            <a:ext cx="3520440" cy="196596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Main achievement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240280"/>
            <a:ext cx="319125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Reduced reported RMSE from about 0.238 to about 0.095 by improving features, model diversity and ecological guidance.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645920"/>
            <a:ext cx="3520440" cy="196596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07992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Key lesson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07992" y="2240280"/>
            <a:ext cx="319125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Strong forecasting needs more than a powerful learner: useful representations and domain constraints matter.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645920"/>
            <a:ext cx="3520440" cy="1965960"/>
          </a:xfrm>
          <a:prstGeom prst="roundRect">
            <a:avLst/>
          </a:prstGeom>
          <a:solidFill>
            <a:srgbClr val="182F30"/>
          </a:solidFill>
          <a:ln>
            <a:solidFill>
              <a:srgbClr val="2E4D4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57031" y="1783080"/>
            <a:ext cx="3191256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50BE82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57031" y="2240280"/>
            <a:ext cx="3191256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0">
                <a:solidFill>
                  <a:srgbClr val="F5F8F5"/>
                </a:solidFill>
                <a:latin typeface="Aptos"/>
              </a:defRPr>
            </a:pPr>
            <a:r>
              <a:t>Run repeated validation, perform ablation tests, inspect errors by scenario and age, and verify performance on the full evaluation set.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25196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50BE82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800600"/>
            <a:ext cx="104241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0">
                <a:solidFill>
                  <a:srgbClr val="F5F8F5"/>
                </a:solidFill>
                <a:latin typeface="Aptos"/>
              </a:defRPr>
            </a:pPr>
            <a:r>
              <a:t>CarbonGlobe — combining machine learning with ecological reasoning for scalable ecosystem forecasting.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